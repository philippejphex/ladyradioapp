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000" cy="10972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304800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0" y="0"/>
            <a:ext cx="3048000" cy="109728"/>
          </a:xfrm>
          <a:prstGeom prst="rect">
            <a:avLst/>
          </a:prstGeom>
          <a:solidFill>
            <a:srgbClr val="E84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280160" cy="502920"/>
          </a:xfrm>
          <a:prstGeom prst="rect">
            <a:avLst/>
          </a:prstGeom>
          <a:solidFill>
            <a:srgbClr val="E84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3385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Lezione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Passato Prossimo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CCEE"/>
                </a:solidFill>
              </a:rPr>
              <a:t>Come parlare del passato in italiano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AACC"/>
                </a:solidFill>
              </a:rPr>
              <a:t>Italiano per stranieri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Che cos'è il Passato Prossimo?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0" y="164592"/>
            <a:ext cx="1463040" cy="493776"/>
          </a:xfrm>
          <a:prstGeom prst="rect">
            <a:avLst/>
          </a:prstGeom>
          <a:solidFill>
            <a:srgbClr val="E84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182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Il passato prossimo descrive azioni avvenute nel passato recente.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08176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376"/>
                </a:solidFill>
              </a:rPr>
              <a:t>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5376"/>
                </a:solidFill>
              </a:rPr>
              <a:t>Formula: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1284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1518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4C3B"/>
                </a:solidFill>
              </a:rPr>
              <a:t>AUSILIARE  +  PARTICIPIO PASSATO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1752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1985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1985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avere  (ho, hai, ha, abbiamo, avete, hanno)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2219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2219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essere  (sono, sei, è, siamo, siete, sono)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Ausiliare AVERE — ho mangiato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0" y="164592"/>
            <a:ext cx="1463040" cy="493776"/>
          </a:xfrm>
          <a:prstGeom prst="rect">
            <a:avLst/>
          </a:prstGeom>
          <a:solidFill>
            <a:srgbClr val="E84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182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ho mangiato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08176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hai mangiato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lui/lei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1051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ha mangiato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128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noi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1284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abbiamo mangiato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1518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voi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1518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avete mangiato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01752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loro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1752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hanno mangiato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F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💬 Esempio: "Ho mangiato la pizza ieri sera."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Ausiliare ESSERE — sono andato/a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0" y="164592"/>
            <a:ext cx="1463040" cy="493776"/>
          </a:xfrm>
          <a:prstGeom prst="rect">
            <a:avLst/>
          </a:prstGeom>
          <a:solidFill>
            <a:srgbClr val="E84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182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sono andato / andata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08176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sei andato / andata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lui/lei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1051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è andato / andata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128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noi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1284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siamo andati / andate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1518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voi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1518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siete andati / andate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01752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84C3B"/>
                </a:solidFill>
              </a:rPr>
              <a:t>loro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1752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33333"/>
                </a:solidFill>
              </a:rPr>
              <a:t>sono andati / andate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F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⚠️ Con ESSERE il participio concorda con il soggetto  (andato / andata / andati / andate)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AVERE o ESSERE?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0" y="164592"/>
            <a:ext cx="1463040" cy="493776"/>
          </a:xfrm>
          <a:prstGeom prst="rect">
            <a:avLst/>
          </a:prstGeom>
          <a:solidFill>
            <a:srgbClr val="E84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182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E84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87552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AVERE  →  verbi transitivi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987552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ESSERE  →  moto/stato/riflessivi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ho mangiato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7510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ho bevuto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9572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ho comprato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1635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ho studiato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36976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ho lavorato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54480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sono andato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97510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sono venuto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9572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sono rimasto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1635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sono partito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36976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mi sono alzato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Espressioni di tempo: ieri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0" y="164592"/>
            <a:ext cx="1463040" cy="49377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182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5376"/>
                </a:solidFill>
              </a:rPr>
              <a:t>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5376"/>
                </a:solidFill>
              </a:rPr>
              <a:t>ieri  =  yesterday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3B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Ieri ho studiato molto.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3B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1284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Ieri sera sono andato al cinema.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1518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3B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1518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Ieri mattina ho fatto colazione con gli amici.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1752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1985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</a:rPr>
              <a:t>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1985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ieri mattina  /  ieri pomeriggio  /  ieri sera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Espressioni di tempo: settimana scorsa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0" y="164592"/>
            <a:ext cx="1463040" cy="49377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182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5376"/>
                </a:solidFill>
              </a:rPr>
              <a:t>🗓️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5376"/>
                </a:solidFill>
              </a:rPr>
              <a:t>settimana scorsa  =  last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3B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La settimana scorsa sono andato a Roma.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3B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1284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Settimana scorsa ho lavorato tanto.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15184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5376"/>
                </a:solidFill>
              </a:rPr>
              <a:t>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5376"/>
                </a:solidFill>
              </a:rPr>
              <a:t>Simili: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1985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1985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mese scorso  /  anno scorso  /  lunedì scorso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già  /  non... ancora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0" y="164592"/>
            <a:ext cx="1463040" cy="49377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182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4F"/>
                </a:solidFill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E7D4F"/>
                </a:solidFill>
              </a:rPr>
              <a:t>già  =  already  →  azione completata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081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4C3B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0817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Ho già mangiato.  (I already ate.)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4C3B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1051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Sei già andato a Firenze?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1284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1518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3B"/>
                </a:solidFill>
              </a:rP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1518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4C3B"/>
                </a:solidFill>
              </a:rPr>
              <a:t>non... ancora  =  not yet  →  azione non completata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4C3B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175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Non ho ancora mangiato.  (I haven't eaten yet.)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1985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4C3B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1985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</a:rPr>
              <a:t>Non sono ancora andato a Firenze.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Esercizio pratico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5376"/>
                </a:solidFill>
              </a:rPr>
              <a:t>Completa le frasi con il passato prossimo: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08176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3B"/>
                </a:solidFill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Ieri io _______ (mangiare) la pasta.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128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3B"/>
                </a:solidFill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La settimana scorsa noi _______ (andare) al mare.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1518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3B"/>
                </a:solidFill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1518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Ho _______ finito i compiti.  (già / ancora)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1752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3B"/>
                </a:solidFill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</a:rPr>
              <a:t>Non sono _______ stato a Venezia.  (già / ancora)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F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Risposte: 1. ho mangiato  2. siamo andati  3. già  4. ancora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Riepilogo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8412480" cy="3291840"/>
          </a:xfrm>
          <a:prstGeom prst="rect">
            <a:avLst/>
          </a:prstGeom>
          <a:solidFill>
            <a:srgbClr val="0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Passato prossimo  =  ausiliare  +  participio passato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AVERE  →  verbi transitivi  (ho mangiato, ho bevuto…)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40864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ESSERE  →  moto/stato/riflessivi  (sono andato, sono venuto…)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2656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Con ESSERE il participio concorda col soggetto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844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Parole chiave: ieri, settimana scorsa, già, non...ancora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